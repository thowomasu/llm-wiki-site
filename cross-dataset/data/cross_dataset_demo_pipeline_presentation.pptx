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e0eb34e3164ef7" /><Relationship Type="http://schemas.openxmlformats.org/officeDocument/2006/relationships/extended-properties" Target="/docProps/app.xml" Id="Rb800269468914542" /><Relationship Type="http://schemas.openxmlformats.org/officeDocument/2006/relationships/officeDocument" Target="/ppt/presentation.xml" Id="R53f44ddbb2ff4a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dd2a720c3c4609"/>
  </p:sldMasterIdLst>
  <p:notesMasterIdLst>
    <p:notesMasterId xmlns:r="http://schemas.openxmlformats.org/officeDocument/2006/relationships" r:id="R0b8159c6cf0f4a89"/>
  </p:notesMasterIdLst>
  <p:sldIdLst>
    <p:sldId xmlns:r="http://schemas.openxmlformats.org/officeDocument/2006/relationships" id="256" r:id="Rde65c52998724fcf"/>
    <p:sldId xmlns:r="http://schemas.openxmlformats.org/officeDocument/2006/relationships" id="257" r:id="R43f31f926f1644cf"/>
    <p:sldId xmlns:r="http://schemas.openxmlformats.org/officeDocument/2006/relationships" id="258" r:id="Rc76a3520c4d34257"/>
    <p:sldId xmlns:r="http://schemas.openxmlformats.org/officeDocument/2006/relationships" id="259" r:id="R83c31677bebd445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ccb7bede4440a8" /><Relationship Type="http://schemas.openxmlformats.org/officeDocument/2006/relationships/slideMaster" Target="/ppt/slideMasters/slideMaster1.xml" Id="R57dd2a720c3c4609" /><Relationship Type="http://schemas.openxmlformats.org/officeDocument/2006/relationships/notesMaster" Target="/ppt/notesMasters/notesMaster1.xml" Id="R0b8159c6cf0f4a89" /><Relationship Type="http://schemas.openxmlformats.org/officeDocument/2006/relationships/presProps" Target="/ppt/presProps.xml" Id="R53e577df5b13401a" /><Relationship Type="http://schemas.openxmlformats.org/officeDocument/2006/relationships/tableStyles" Target="/ppt/tableStyles.xml" Id="R653c17cf863d42b4" /><Relationship Type="http://schemas.openxmlformats.org/officeDocument/2006/relationships/slide" Target="/ppt/slides/slide1.xml" Id="Rde65c52998724fcf" /><Relationship Type="http://schemas.openxmlformats.org/officeDocument/2006/relationships/slide" Target="/ppt/slides/slide2.xml" Id="R43f31f926f1644cf" /><Relationship Type="http://schemas.openxmlformats.org/officeDocument/2006/relationships/slide" Target="/ppt/slides/slide3.xml" Id="Rc76a3520c4d34257" /><Relationship Type="http://schemas.openxmlformats.org/officeDocument/2006/relationships/slide" Target="/ppt/slides/slide4.xml" Id="R83c31677bebd44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8536d88c9a41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35caba7c7e4b2f" /><Relationship Type="http://schemas.openxmlformats.org/officeDocument/2006/relationships/notesMaster" Target="/ppt/notesMasters/notesMaster1.xml" Id="Rbda5c298d91d47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3b9305822b41ad" /><Relationship Type="http://schemas.openxmlformats.org/officeDocument/2006/relationships/notesMaster" Target="/ppt/notesMasters/notesMaster1.xml" Id="R2ddac2f8d8354c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24dcee69ec4de3" /><Relationship Type="http://schemas.openxmlformats.org/officeDocument/2006/relationships/notesMaster" Target="/ppt/notesMasters/notesMaster1.xml" Id="R20f4b60c4dcc41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82806eef3c4f5c" /><Relationship Type="http://schemas.openxmlformats.org/officeDocument/2006/relationships/notesMaster" Target="/ppt/notesMasters/notesMaster1.xml" Id="R19e15668037547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 the point first: this is a working demo and handoff path, not a new external validation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the split boundary: no random row split, bounded demo subset, not a retuned validation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blunt: the demo beats the baseline, but the strongest scientific statement still depends on frozen validation boundaries.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blocker. It is external state, not a modeling problem.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b9e724423445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078861558f43db" /><Relationship Type="http://schemas.openxmlformats.org/officeDocument/2006/relationships/slideLayout" Target="/ppt/slideLayouts/slideLayout1.xml" Id="R09868ad0daac4a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868ad0daac4a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cea4047104bc9" /><Relationship Type="http://schemas.openxmlformats.org/officeDocument/2006/relationships/notesSlide" Target="/ppt/notesSlides/notesSlide1.xml" Id="R445a8b4d99f644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fcff074e54e25" /><Relationship Type="http://schemas.openxmlformats.org/officeDocument/2006/relationships/notesSlide" Target="/ppt/notesSlides/notesSlide2.xml" Id="R7a500ce4b0eb45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57d3d23a04a69" /><Relationship Type="http://schemas.openxmlformats.org/officeDocument/2006/relationships/chart" Target="/ppt/slides/charts/chart1.xml" Id="Redf8fe4bcd6e4485" /><Relationship Type="http://schemas.openxmlformats.org/officeDocument/2006/relationships/notesSlide" Target="/ppt/notesSlides/notesSlide3.xml" Id="Re7d8cf28375e4e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c42eeda6dd47da" /><Relationship Type="http://schemas.openxmlformats.org/officeDocument/2006/relationships/notesSlide" Target="/ppt/notesSlides/notesSlide4.xml" Id="Rfa436b8f5972400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RMSE</c:v>
          </c:tx>
          <c:spPr>
            <a:solidFill xmlns:a="http://schemas.openxmlformats.org/drawingml/2006/main">
              <a:srgbClr val="147A73"/>
            </a:solidFill>
          </c:spPr>
          <c:dLbls/>
          <c:cat>
            <c:strLit>
              <c:ptCount val="2"/>
              <c:pt idx="0">
                <c:v>Baseline RMSE</c:v>
              </c:pt>
              <c:pt idx="1">
                <c:v>Model RMSE</c:v>
              </c:pt>
            </c:strLit>
          </c:cat>
          <c:val>
            <c:numLit>
              <c:formatCode>General</c:formatCode>
              <c:ptCount val="2"/>
              <c:pt idx="0">
                <c:v>0.009208603939342681</c:v>
              </c:pt>
              <c:pt idx="1">
                <c:v>0.007976747730320428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212B"/>
                  </a:solidFill>
                </a:defRPr>
              </a:pPr>
            </a:p>
          </c:txPr>
          <c:dLblPos val="outEnd"/>
          <c:showVal val="1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66574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2C8EA3-8AFB-4980-B7EE-D7F67B46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EEF3F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7A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7A73"/>
                </a:solidFill>
                <a:latin typeface="Aptos"/>
                <a:ea typeface="Aptos"/>
                <a:cs typeface="Aptos"/>
              </a:rPr>
              <a:t>OBJECTIVE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09DC07-F26E-47DA-B423-151017A8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781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Show the cross-dataset pulse-to-EIS demo without overclaiming 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FC3B5-B9F8-4429-9FD3-C39C1634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828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66574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566574"/>
                </a:solidFill>
                <a:latin typeface="Aptos"/>
                <a:ea typeface="Aptos"/>
                <a:cs typeface="Aptos"/>
              </a:rPr>
              <a:t>A small, reproducible code path predicts fixed-grid EIS targets from time-domain features, compares against a boring baseline, and leaves a VM handoff hook for later.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8B009E-56E0-4E94-8718-0744F314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28575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30056-0636-4D9B-8343-5F3E865A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243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F7D4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F7D4A"/>
                </a:solidFill>
                <a:latin typeface="Aptos Display"/>
                <a:ea typeface="Aptos Display"/>
                <a:cs typeface="Aptos Display"/>
              </a:rPr>
              <a:t>beats</a:t>
            </a:r>
          </a:p>
          <a:p xmlns:a="http://schemas.openxmlformats.org/drawingml/2006/main">
            <a:pPr>
              <a:defRPr sz="2550" b="1">
                <a:solidFill>
                  <a:srgbClr val="2F7D4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F7D4A"/>
                </a:solidFill>
                <a:latin typeface="Aptos Display"/>
                <a:ea typeface="Aptos Display"/>
                <a:cs typeface="Aptos Display"/>
              </a:rPr>
              <a:t>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8AA456-E36F-4883-84FE-E850BCAE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243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665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66574"/>
                </a:solidFill>
                <a:latin typeface="Aptos"/>
                <a:ea typeface="Aptos"/>
                <a:cs typeface="Aptos"/>
              </a:rPr>
              <a:t>Demo verdict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762D0A-9F64-42C8-AE31-9EA4248C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33800"/>
            <a:ext cx="34290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CC642E-D396-435E-A899-F8914D9A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905250"/>
            <a:ext cx="3009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85F1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B85F17"/>
                </a:solidFill>
                <a:latin typeface="Aptos Display"/>
                <a:ea typeface="Aptos Display"/>
                <a:cs typeface="Aptos Display"/>
              </a:rPr>
              <a:t>local ready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915EF7-838B-4A98-9F2C-1C0E6591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4345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665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66574"/>
                </a:solidFill>
                <a:latin typeface="Aptos"/>
                <a:ea typeface="Aptos"/>
                <a:cs typeface="Aptos"/>
              </a:rPr>
              <a:t>Goal audit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86C353-0F0B-43EA-A591-C2A1342D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733800"/>
            <a:ext cx="28575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7739D0-B51F-4BCD-B25C-E4BC59F0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905250"/>
            <a:ext cx="243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85F1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B85F17"/>
                </a:solidFill>
                <a:latin typeface="Aptos Display"/>
                <a:ea typeface="Aptos Display"/>
                <a:cs typeface="Aptos Display"/>
              </a:rPr>
              <a:t>deferred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0AF5C4-70A8-4698-9348-9D427068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743450"/>
            <a:ext cx="243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665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66574"/>
                </a:solidFill>
                <a:latin typeface="Aptos"/>
                <a:ea typeface="Aptos"/>
                <a:cs typeface="Aptos"/>
              </a:rPr>
              <a:t>VM status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930B81-0EE4-4ED4-BB91-CEE00444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66574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566574"/>
                </a:solidFill>
                <a:latin typeface="Aptos"/>
                <a:ea typeface="Aptos"/>
                <a:cs typeface="Aptos"/>
              </a:rPr>
              <a:t>Sources: demo results, goal audit, VM smoke 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840ECA-8EAD-4064-8C35-819029B4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66574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566574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669641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E18652-F472-4CE7-90EC-5CAB8DA4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EEF3F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7A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7A73"/>
                </a:solidFill>
                <a:latin typeface="Aptos"/>
                <a:ea typeface="Aptos"/>
                <a:cs typeface="Aptos"/>
              </a:rPr>
              <a:t>METHODOLOGY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1AC26A-5E41-40CA-AD12-F6CF76BE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781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The demo uses locked artifacts and avoids a fake random split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F21EF3-6CBE-44BA-98D9-9EF1DCF2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828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66574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566574"/>
                </a:solidFill>
                <a:latin typeface="Aptos"/>
                <a:ea typeface="Aptos"/>
                <a:cs typeface="Aptos"/>
              </a:rPr>
              <a:t>It trains from development rows, scores a bounded Molicell subset, compares model versus train-mean baseline, and screens EIS targets with Kramer-Kronig quality metadata.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4D7D90-BC3D-4C35-A534-FE2BDCB2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73"/>
          </a:solidFill>
          <a:ln xmlns:a="http://schemas.openxmlformats.org/drawingml/2006/main" w="9525">
            <a:solidFill>
              <a:srgbClr val="147A7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3955F5-5CC0-41A8-8D00-B4B6F4A3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Load matrices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1DD5A-2D61-4497-A8CA-488A06B0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2076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66574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66574"/>
                </a:solidFill>
                <a:latin typeface="Aptos"/>
                <a:ea typeface="Aptos"/>
                <a:cs typeface="Aptos"/>
              </a:rPr>
              <a:t>Development rows plus Molicell holdout subset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AF78D2-4127-4786-AC2C-221BB36F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90975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B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6D08AA-BB3E-46C8-BB46-D7AB723A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14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73"/>
          </a:solidFill>
          <a:ln xmlns:a="http://schemas.openxmlformats.org/drawingml/2006/main" w="9525">
            <a:solidFill>
              <a:srgbClr val="147A7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E55737-8B70-4905-A178-4AC08BCE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4386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Train demo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6392B2-57CE-4F2C-8F94-4D5E9190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800600"/>
            <a:ext cx="2076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66574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66574"/>
                </a:solidFill>
                <a:latin typeface="Aptos"/>
                <a:ea typeface="Aptos"/>
                <a:cs typeface="Aptos"/>
              </a:rPr>
              <a:t>KNN blended with global train mean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B743DD-EDE8-45DE-87D9-07C810D5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90975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B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F7C244-93A4-4942-9912-97D97642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14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73"/>
          </a:solidFill>
          <a:ln xmlns:a="http://schemas.openxmlformats.org/drawingml/2006/main" w="9525">
            <a:solidFill>
              <a:srgbClr val="147A7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81ACF9-5102-4482-B88B-C1CFA0BD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386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Compare baseline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314F7D-B321-4734-A99F-13A53FD3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800600"/>
            <a:ext cx="2076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66574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66574"/>
                </a:solidFill>
                <a:latin typeface="Aptos"/>
                <a:ea typeface="Aptos"/>
                <a:cs typeface="Aptos"/>
              </a:rPr>
              <a:t>RMSE against global train target mean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105BDE-05B7-4186-A568-17A4FBFB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90975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B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F292D5-B0FB-439D-ADC7-F4676DAD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14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73"/>
          </a:solidFill>
          <a:ln xmlns:a="http://schemas.openxmlformats.org/drawingml/2006/main" w="9525">
            <a:solidFill>
              <a:srgbClr val="147A7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DAC0CF-B83C-4F65-9D57-FEFDFAC0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386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Screen EIS target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64E190-35CE-4A37-8DAF-DB915221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00600"/>
            <a:ext cx="2076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66574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66574"/>
                </a:solidFill>
                <a:latin typeface="Aptos"/>
                <a:ea typeface="Aptos"/>
                <a:cs typeface="Aptos"/>
              </a:rPr>
              <a:t>Finite-range RC-basis Kramer-Kronig check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4AD9B3-C80C-4545-A35D-ADEC1D79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66574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566574"/>
                </a:solidFill>
                <a:latin typeface="Aptos"/>
                <a:ea typeface="Aptos"/>
                <a:cs typeface="Aptos"/>
              </a:rPr>
              <a:t>Sources: demo method fields and demo pipeline code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759E2D-F4F1-4070-8736-04E11AD7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66574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566574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241570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718516-FB71-44E2-9FFE-E359DF4B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EEF3F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7A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7A73"/>
                </a:solidFill>
                <a:latin typeface="Aptos"/>
                <a:ea typeface="Aptos"/>
                <a:cs typeface="Aptos"/>
              </a:rPr>
              <a:t>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227CDC-DDAF-49EB-BEF4-4A3408FE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781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The demo model beats the baseline and the sampled EIS rows pass KK screening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689AD9-60D9-4736-AB7B-A5A5D49E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828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66574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566574"/>
                </a:solidFill>
                <a:latin typeface="Aptos"/>
                <a:ea typeface="Aptos"/>
                <a:cs typeface="Aptos"/>
              </a:rPr>
              <a:t>This proves the demo path runs end to end. It does not prove the full research claim by itself.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692519-CAB1-426C-913D-DC6EB477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23812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2A1D8C-8577-4318-9D47-C8E5596F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1962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0.009209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50C20D-5F54-4602-8FB3-D34E4509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665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66574"/>
                </a:solidFill>
                <a:latin typeface="Aptos"/>
                <a:ea typeface="Aptos"/>
                <a:cs typeface="Aptos"/>
              </a:rPr>
              <a:t>Baseline RMSE, ohm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15E93F-2D5C-4AEB-ACDC-684DA84F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57550"/>
            <a:ext cx="23812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BF9F44-667C-4344-BC08-F1BE7DED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29000"/>
            <a:ext cx="1962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7A7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7A73"/>
                </a:solidFill>
                <a:latin typeface="Aptos Display"/>
                <a:ea typeface="Aptos Display"/>
                <a:cs typeface="Aptos Display"/>
              </a:rPr>
              <a:t>0.007977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F51F4D-9627-4F59-86D1-5AA80846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6720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665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66574"/>
                </a:solidFill>
                <a:latin typeface="Aptos"/>
                <a:ea typeface="Aptos"/>
                <a:cs typeface="Aptos"/>
              </a:rPr>
              <a:t>Model RMSE, ohm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65D00B-8728-4ABE-92CA-93CDFF58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57550"/>
            <a:ext cx="23812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031F97-F2F3-4E9F-A5E6-5AAB5004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29000"/>
            <a:ext cx="1962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F7D4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F7D4A"/>
                </a:solidFill>
                <a:latin typeface="Aptos Display"/>
                <a:ea typeface="Aptos Display"/>
                <a:cs typeface="Aptos Display"/>
              </a:rPr>
              <a:t>13.4%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01CADD-FB01-4766-8293-A817FC72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6720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665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66574"/>
                </a:solidFill>
                <a:latin typeface="Aptos"/>
                <a:ea typeface="Aptos"/>
                <a:cs typeface="Aptos"/>
              </a:rPr>
              <a:t>Relative improvement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D18D04-1FB3-4AAB-B15D-8D0D8AED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57550"/>
            <a:ext cx="23812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75E5A0-62DC-4080-ABAD-9BB887A6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29000"/>
            <a:ext cx="1962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7A7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7A73"/>
                </a:solidFill>
                <a:latin typeface="Aptos Display"/>
                <a:ea typeface="Aptos Display"/>
                <a:cs typeface="Aptos Display"/>
              </a:rPr>
              <a:t>30/30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EA3D6F-8BF3-4441-990A-2C9D3CDC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6720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665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66574"/>
                </a:solidFill>
                <a:latin typeface="Aptos"/>
                <a:ea typeface="Aptos"/>
                <a:cs typeface="Aptos"/>
              </a:rPr>
              <a:t>KK valid rows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1028700" y="4838700"/>
          <a:ext xmlns:a="http://schemas.openxmlformats.org/drawingml/2006/main" cx="6286500" cy="1047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df8fe4bcd6e4485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B86E46-3DA8-450D-B4E5-E0C3EFEF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895850"/>
            <a:ext cx="333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665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66574"/>
                </a:solidFill>
                <a:latin typeface="Aptos"/>
                <a:ea typeface="Aptos"/>
                <a:cs typeface="Aptos"/>
              </a:rPr>
              <a:t>Full KK screen: 21366 rows checked, 98.1% valid overall. RADAR4KIT remains the dirty development target group.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CDAA67-E071-4CDC-8A9E-B77A041C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66574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566574"/>
                </a:solidFill>
                <a:latin typeface="Aptos"/>
                <a:ea typeface="Aptos"/>
                <a:cs typeface="Aptos"/>
              </a:rPr>
              <a:t>Sources: demo results and Kramer-Kronig summary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4B302C-43C9-45FD-8D6B-E5922AEC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66574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566574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370908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ABE2A8-8E98-451B-857B-25C8AA6D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EEF3F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7A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7A73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1494B8-9E8F-4F6B-9C82-A93AA0ED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781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The local handoff is ready; VM connection is deferred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78D7EB-4AE6-40B9-A5C7-6F3AD64A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828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66574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566574"/>
                </a:solidFill>
                <a:latin typeface="Aptos"/>
                <a:ea typeface="Aptos"/>
                <a:cs typeface="Aptos"/>
              </a:rPr>
              <a:t>The next honest VM step happens later, when the colleague-provided VM has a host, user, repo path, and Python path.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53719-90CC-4B49-B2B2-FFB8A0E9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7239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Working demo code exists and regenerates results plus presentation artifacts.</a:t>
            </a:r>
          </a:p>
          <a:p xmlns:a="http://schemas.openxmlformats.org/drawingml/2006/main">
            <a:pPr>
              <a:defRPr sz="165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The one-command handoff bundle passed locally.</a:t>
            </a:r>
          </a:p>
          <a:p xmlns:a="http://schemas.openxmlformats.org/drawingml/2006/main">
            <a:pPr>
              <a:defRPr sz="165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The public cross-dataset page exposes summaries, the manifest, and VM config template.</a:t>
            </a:r>
          </a:p>
          <a:p xmlns:a="http://schemas.openxmlformats.org/drawingml/2006/main">
            <a:pPr>
              <a:defRPr sz="165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VM connection is intentionally deferred until the colleague-provided VM is 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42C41C-0D96-4CF4-86D0-04878F4C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90900"/>
            <a:ext cx="26670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9525">
            <a:solidFill>
              <a:srgbClr val="E3B3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5F1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B85F17"/>
                </a:solidFill>
                <a:latin typeface="Aptos Display"/>
                <a:ea typeface="Aptos Display"/>
                <a:cs typeface="Aptos Display"/>
              </a:rPr>
              <a:t>Do not say VM-connected yet.</a:t>
            </a:r>
          </a:p>
          <a:p xmlns:a="http://schemas.openxmlformats.org/drawingml/2006/main">
            <a:pPr>
              <a:defRPr sz="1650" b="1">
                <a:solidFill>
                  <a:srgbClr val="B85F1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B85F17"/>
                </a:solidFill>
                <a:latin typeface="Aptos Display"/>
                <a:ea typeface="Aptos Display"/>
                <a:cs typeface="Aptos Display"/>
              </a:rPr>
              <a:t>VM setup is deferred until the colleague-provided host exists.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CE4DA-EFFE-4E36-A36F-DAEB4E61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66574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566574"/>
                </a:solidFill>
                <a:latin typeface="Aptos"/>
                <a:ea typeface="Aptos"/>
                <a:cs typeface="Aptos"/>
              </a:rPr>
              <a:t>Sources: handoff manifest, goal audit, VM smoke result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051DF3-CAC1-4189-A0A9-D0935898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66574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566574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844604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2026-07-01T18:23:51.2810000Z</dcterms:created>
  <dcterms:modified xsi:type="dcterms:W3CDTF">2026-07-01T18:23:51.2810000Z</dcterms:modified>
</coreProperties>
</file>